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62AC-9538-4275-9EA6-944D3C460E0F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9AE2-315F-45CA-9AF1-47EBCBC1C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987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62AC-9538-4275-9EA6-944D3C460E0F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9AE2-315F-45CA-9AF1-47EBCBC1C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029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62AC-9538-4275-9EA6-944D3C460E0F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9AE2-315F-45CA-9AF1-47EBCBC1C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236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62AC-9538-4275-9EA6-944D3C460E0F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9AE2-315F-45CA-9AF1-47EBCBC1C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69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62AC-9538-4275-9EA6-944D3C460E0F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9AE2-315F-45CA-9AF1-47EBCBC1C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159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62AC-9538-4275-9EA6-944D3C460E0F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9AE2-315F-45CA-9AF1-47EBCBC1C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257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62AC-9538-4275-9EA6-944D3C460E0F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9AE2-315F-45CA-9AF1-47EBCBC1C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379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62AC-9538-4275-9EA6-944D3C460E0F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9AE2-315F-45CA-9AF1-47EBCBC1C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010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62AC-9538-4275-9EA6-944D3C460E0F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9AE2-315F-45CA-9AF1-47EBCBC1C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864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62AC-9538-4275-9EA6-944D3C460E0F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9AE2-315F-45CA-9AF1-47EBCBC1C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985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762AC-9538-4275-9EA6-944D3C460E0F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59AE2-315F-45CA-9AF1-47EBCBC1C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404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762AC-9538-4275-9EA6-944D3C460E0F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59AE2-315F-45CA-9AF1-47EBCBC1C8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02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32495" y="1844610"/>
            <a:ext cx="7975076" cy="1285089"/>
          </a:xfrm>
        </p:spPr>
        <p:txBody>
          <a:bodyPr>
            <a:noAutofit/>
          </a:bodyPr>
          <a:lstStyle/>
          <a:p>
            <a:r>
              <a:rPr lang="en-US" sz="4000" b="1" dirty="0" smtClean="0"/>
              <a:t>School of computer science and engineering</a:t>
            </a:r>
            <a:r>
              <a:rPr lang="en-US" sz="4800" b="1" dirty="0" smtClean="0"/>
              <a:t/>
            </a:r>
            <a:br>
              <a:rPr lang="en-US" sz="4800" b="1" dirty="0" smtClean="0"/>
            </a:br>
            <a:r>
              <a:rPr lang="en-US" sz="2800" b="1" dirty="0" smtClean="0"/>
              <a:t>Deep Learning Project Final Review</a:t>
            </a:r>
            <a:endParaRPr lang="en-IN" sz="2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9621" y="3412503"/>
            <a:ext cx="11692379" cy="980388"/>
          </a:xfrm>
        </p:spPr>
        <p:txBody>
          <a:bodyPr>
            <a:normAutofit fontScale="25000" lnSpcReduction="20000"/>
          </a:bodyPr>
          <a:lstStyle/>
          <a:p>
            <a:r>
              <a:rPr lang="en-IN" sz="14400" dirty="0"/>
              <a:t>Intelligent Skin Disease Classification System </a:t>
            </a:r>
            <a:endParaRPr lang="en-IN" sz="14400" dirty="0" smtClean="0"/>
          </a:p>
          <a:p>
            <a:r>
              <a:rPr lang="en-IN" sz="14400" dirty="0" smtClean="0"/>
              <a:t>Using Medical Image Analysis</a:t>
            </a:r>
            <a:endParaRPr lang="en-IN" sz="14400" b="0" dirty="0" smtClean="0">
              <a:effectLst/>
            </a:endParaRPr>
          </a:p>
          <a:p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pic>
        <p:nvPicPr>
          <p:cNvPr id="1030" name="Picture 6" descr="Get Transcript from VIT AP Universi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932" y="258059"/>
            <a:ext cx="384810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93889" y="5033913"/>
            <a:ext cx="33842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smtClean="0"/>
              <a:t>Guide:</a:t>
            </a:r>
          </a:p>
          <a:p>
            <a:r>
              <a:rPr lang="en-IN" sz="2400" dirty="0" smtClean="0"/>
              <a:t>Dr. </a:t>
            </a:r>
            <a:r>
              <a:rPr lang="en-IN" sz="2400" dirty="0" err="1" smtClean="0"/>
              <a:t>RajyaLakshmi</a:t>
            </a:r>
            <a:r>
              <a:rPr lang="en-IN" sz="2400" dirty="0" smtClean="0"/>
              <a:t> </a:t>
            </a:r>
            <a:r>
              <a:rPr lang="en-IN" sz="2400" dirty="0" err="1" smtClean="0"/>
              <a:t>Allapati</a:t>
            </a:r>
            <a:endParaRPr lang="en-IN" sz="2400" dirty="0" smtClean="0"/>
          </a:p>
          <a:p>
            <a:r>
              <a:rPr lang="en-IN" sz="2400" dirty="0" smtClean="0"/>
              <a:t>SCOPE</a:t>
            </a:r>
          </a:p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8154186" y="5118754"/>
            <a:ext cx="3403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Presented by</a:t>
            </a:r>
            <a:br>
              <a:rPr lang="en-IN" dirty="0" smtClean="0"/>
            </a:br>
            <a:r>
              <a:rPr lang="en-IN" dirty="0" err="1" smtClean="0"/>
              <a:t>J.Manjiswari</a:t>
            </a:r>
            <a:r>
              <a:rPr lang="en-IN" dirty="0" smtClean="0"/>
              <a:t>, 23BCE9340</a:t>
            </a:r>
          </a:p>
        </p:txBody>
      </p:sp>
    </p:spTree>
    <p:extLst>
      <p:ext uri="{BB962C8B-B14F-4D97-AF65-F5344CB8AC3E}">
        <p14:creationId xmlns:p14="http://schemas.microsoft.com/office/powerpoint/2010/main" val="2506439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0194" y="1300899"/>
            <a:ext cx="599544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200" dirty="0" smtClean="0"/>
              <a:t>Abstract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200" dirty="0" smtClean="0"/>
              <a:t>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200" dirty="0" smtClean="0"/>
              <a:t>Problem Statement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200" dirty="0" smtClean="0"/>
              <a:t>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200" dirty="0" smtClean="0"/>
              <a:t>Literature Review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200" dirty="0" smtClean="0"/>
              <a:t>Proposed 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200" dirty="0" smtClean="0"/>
              <a:t>Methodology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200" dirty="0" smtClean="0"/>
              <a:t>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200" dirty="0" smtClean="0"/>
              <a:t>Conclusion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200" dirty="0" smtClean="0"/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62572" y="263951"/>
            <a:ext cx="42420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smtClean="0"/>
              <a:t>OUTLINE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2487749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957"/>
          </a:xfrm>
        </p:spPr>
        <p:txBody>
          <a:bodyPr>
            <a:normAutofit/>
          </a:bodyPr>
          <a:lstStyle/>
          <a:p>
            <a:r>
              <a:rPr lang="en-IN" b="1" dirty="0" smtClean="0"/>
              <a:t>                               </a:t>
            </a:r>
            <a:r>
              <a:rPr lang="en-IN" sz="4000" b="1" dirty="0" smtClean="0"/>
              <a:t>ABSTRACT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2248"/>
            <a:ext cx="10515600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is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preprocessed and augmented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improve accuracy and reduce overfitting.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performance evaluated using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accuracy, precision, recall, and F1-score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 show high classification accuracy, proving the system can assist dermatologists in early diagnosis.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056" y="4073618"/>
            <a:ext cx="7792236" cy="239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57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091"/>
          </a:xfrm>
        </p:spPr>
        <p:txBody>
          <a:bodyPr>
            <a:normAutofit/>
          </a:bodyPr>
          <a:lstStyle/>
          <a:p>
            <a:r>
              <a:rPr lang="en-IN" sz="4000" b="1" dirty="0" smtClean="0"/>
              <a:t>                            INTRODUCTION</a:t>
            </a:r>
            <a:endParaRPr lang="en-IN" sz="4000" b="1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27142"/>
          </a:xfrm>
        </p:spPr>
        <p:txBody>
          <a:bodyPr>
            <a:normAutofit fontScale="925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Skin diseases often appear visually similar, making manual diagnosis difficult and time-consuming</a:t>
            </a:r>
            <a:r>
              <a:rPr lang="en-US" altLang="en-US" sz="2400" dirty="0" smtClean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Deep learning, especially </a:t>
            </a:r>
            <a:r>
              <a:rPr lang="en-US" altLang="en-US" sz="2400" b="1" dirty="0">
                <a:latin typeface="Arial" panose="020B0604020202020204" pitchFamily="34" charset="0"/>
              </a:rPr>
              <a:t>Convolutional Neural Networks (CNNs)</a:t>
            </a:r>
            <a:r>
              <a:rPr lang="en-US" altLang="en-US" sz="2400" dirty="0">
                <a:latin typeface="Arial" panose="020B0604020202020204" pitchFamily="34" charset="0"/>
              </a:rPr>
              <a:t>, enables automatic and accurate skin disease detection from images</a:t>
            </a:r>
            <a:r>
              <a:rPr lang="en-US" altLang="en-US" sz="2400" dirty="0" smtClean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The system uses </a:t>
            </a:r>
            <a:r>
              <a:rPr lang="en-US" altLang="en-US" sz="2400" b="1" dirty="0">
                <a:latin typeface="Arial" panose="020B0604020202020204" pitchFamily="34" charset="0"/>
              </a:rPr>
              <a:t>image preprocessing and data augmentation</a:t>
            </a:r>
            <a:r>
              <a:rPr lang="en-US" altLang="en-US" sz="2400" dirty="0">
                <a:latin typeface="Arial" panose="020B0604020202020204" pitchFamily="34" charset="0"/>
              </a:rPr>
              <a:t> to improve learning and reduce overfitting</a:t>
            </a:r>
            <a:r>
              <a:rPr lang="en-US" altLang="en-US" sz="2400" dirty="0" smtClean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The goal is to assist dermatologists with </a:t>
            </a:r>
            <a:r>
              <a:rPr lang="en-US" altLang="en-US" sz="2400" b="1" dirty="0">
                <a:latin typeface="Arial" panose="020B0604020202020204" pitchFamily="34" charset="0"/>
              </a:rPr>
              <a:t>fast, reliable, and early diagnosis</a:t>
            </a:r>
            <a:r>
              <a:rPr lang="en-US" altLang="en-US" sz="2400" dirty="0">
                <a:latin typeface="Arial" panose="020B0604020202020204" pitchFamily="34" charset="0"/>
              </a:rPr>
              <a:t>, improving patient care and treatment outcomes.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06980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9786"/>
          </a:xfrm>
        </p:spPr>
        <p:txBody>
          <a:bodyPr>
            <a:normAutofit/>
          </a:bodyPr>
          <a:lstStyle/>
          <a:p>
            <a:r>
              <a:rPr lang="en-IN" sz="4000" b="1" dirty="0" smtClean="0"/>
              <a:t>                        PROBLEM STATEMENT</a:t>
            </a:r>
            <a:endParaRPr lang="en-IN" sz="4000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802941"/>
            <a:ext cx="1059651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</a:rPr>
              <a:t>Skin diseases are difficult to diagnose accurately without expert evaluation.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</a:rPr>
              <a:t>Manual diagnosis is time-consuming and may vary between doctors.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</a:rPr>
              <a:t>Many areas lack access to skilled dermatologists, leading to delayed treatment.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latin typeface="Arial" panose="020B0604020202020204" pitchFamily="34" charset="0"/>
              </a:rPr>
              <a:t>There is a need for an automated system to detect and classify skin diseases from images.</a:t>
            </a:r>
          </a:p>
        </p:txBody>
      </p:sp>
    </p:spTree>
    <p:extLst>
      <p:ext uri="{BB962C8B-B14F-4D97-AF65-F5344CB8AC3E}">
        <p14:creationId xmlns:p14="http://schemas.microsoft.com/office/powerpoint/2010/main" val="106102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0615"/>
          </a:xfrm>
        </p:spPr>
        <p:txBody>
          <a:bodyPr>
            <a:normAutofit/>
          </a:bodyPr>
          <a:lstStyle/>
          <a:p>
            <a:r>
              <a:rPr lang="en-IN" sz="4000" b="1" dirty="0" smtClean="0"/>
              <a:t>                                   OBJECTIVES</a:t>
            </a:r>
            <a:endParaRPr lang="en-IN" sz="4000" b="1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772212" y="2031132"/>
            <a:ext cx="11150360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automatically classify skin disease images using deep learning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assist dermatologists by providing fast and reliable skin disease predictions.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improve accuracy using preprocessing and data augmentation.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use a CNN-based model to extract important features from skin images.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/>
              <a:t>To support early diagnosis and reduce manual analysis time.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380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 smtClean="0"/>
              <a:t>                         LITERATURE REVIEW</a:t>
            </a:r>
            <a:endParaRPr lang="en-IN" sz="4000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05156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Earlier studies used traditional machine-learning models with handcrafted features, but they showed limited accuracy for complex skin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learning, especially Convolutional Neural Networks (CNNs), has become the most effective method for skin image 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papers demonstrate that data augmentation and image preprocessing improve model performance and reduce overfitting.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 dermatology datasets like ISIC are widely used to train and benchmark skin disease detection models.</a:t>
            </a:r>
          </a:p>
        </p:txBody>
      </p:sp>
    </p:spTree>
    <p:extLst>
      <p:ext uri="{BB962C8B-B14F-4D97-AF65-F5344CB8AC3E}">
        <p14:creationId xmlns:p14="http://schemas.microsoft.com/office/powerpoint/2010/main" val="87024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632042"/>
              </p:ext>
            </p:extLst>
          </p:nvPr>
        </p:nvGraphicFramePr>
        <p:xfrm>
          <a:off x="589932" y="196645"/>
          <a:ext cx="11002299" cy="6143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255">
                  <a:extLst>
                    <a:ext uri="{9D8B030D-6E8A-4147-A177-3AD203B41FA5}">
                      <a16:colId xmlns:a16="http://schemas.microsoft.com/office/drawing/2014/main" val="882976620"/>
                    </a:ext>
                  </a:extLst>
                </a:gridCol>
                <a:gridCol w="2546555">
                  <a:extLst>
                    <a:ext uri="{9D8B030D-6E8A-4147-A177-3AD203B41FA5}">
                      <a16:colId xmlns:a16="http://schemas.microsoft.com/office/drawing/2014/main" val="363851047"/>
                    </a:ext>
                  </a:extLst>
                </a:gridCol>
                <a:gridCol w="924232">
                  <a:extLst>
                    <a:ext uri="{9D8B030D-6E8A-4147-A177-3AD203B41FA5}">
                      <a16:colId xmlns:a16="http://schemas.microsoft.com/office/drawing/2014/main" val="2502581941"/>
                    </a:ext>
                  </a:extLst>
                </a:gridCol>
                <a:gridCol w="1582994">
                  <a:extLst>
                    <a:ext uri="{9D8B030D-6E8A-4147-A177-3AD203B41FA5}">
                      <a16:colId xmlns:a16="http://schemas.microsoft.com/office/drawing/2014/main" val="3145184885"/>
                    </a:ext>
                  </a:extLst>
                </a:gridCol>
                <a:gridCol w="2104103">
                  <a:extLst>
                    <a:ext uri="{9D8B030D-6E8A-4147-A177-3AD203B41FA5}">
                      <a16:colId xmlns:a16="http://schemas.microsoft.com/office/drawing/2014/main" val="3873908253"/>
                    </a:ext>
                  </a:extLst>
                </a:gridCol>
                <a:gridCol w="1525403">
                  <a:extLst>
                    <a:ext uri="{9D8B030D-6E8A-4147-A177-3AD203B41FA5}">
                      <a16:colId xmlns:a16="http://schemas.microsoft.com/office/drawing/2014/main" val="1631793418"/>
                    </a:ext>
                  </a:extLst>
                </a:gridCol>
                <a:gridCol w="1571757">
                  <a:extLst>
                    <a:ext uri="{9D8B030D-6E8A-4147-A177-3AD203B41FA5}">
                      <a16:colId xmlns:a16="http://schemas.microsoft.com/office/drawing/2014/main" val="548996096"/>
                    </a:ext>
                  </a:extLst>
                </a:gridCol>
              </a:tblGrid>
              <a:tr h="840303"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Sl.No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Title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Methodology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Dataset 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Dis-Advantages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Result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135909"/>
                  </a:ext>
                </a:extLst>
              </a:tr>
              <a:tr h="1140542">
                <a:tc>
                  <a:txBody>
                    <a:bodyPr/>
                    <a:lstStyle/>
                    <a:p>
                      <a:r>
                        <a:rPr lang="en-IN" dirty="0" smtClean="0"/>
                        <a:t>1.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Deep CNN-Based Skin Lesion Classification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2017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Convolutional Neural</a:t>
                      </a:r>
                      <a:r>
                        <a:rPr lang="en-IN" baseline="0" dirty="0" smtClean="0"/>
                        <a:t> Network(CNN)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ISIC </a:t>
                      </a:r>
                      <a:r>
                        <a:rPr lang="en-IN" dirty="0" err="1" smtClean="0"/>
                        <a:t>dermoscopic</a:t>
                      </a:r>
                      <a:r>
                        <a:rPr lang="en-IN" dirty="0" smtClean="0"/>
                        <a:t> dataset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Limited classes and small dataset size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Achieved ~85% accuracy for melanoma classification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690058"/>
                  </a:ext>
                </a:extLst>
              </a:tr>
              <a:tr h="1140542">
                <a:tc>
                  <a:txBody>
                    <a:bodyPr/>
                    <a:lstStyle/>
                    <a:p>
                      <a:r>
                        <a:rPr lang="en-IN" dirty="0" smtClean="0"/>
                        <a:t>2.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Skin Disease Detection Using Transfer </a:t>
                      </a:r>
                      <a:r>
                        <a:rPr lang="en-US" dirty="0" err="1" smtClean="0"/>
                        <a:t>LearningSkin</a:t>
                      </a:r>
                      <a:r>
                        <a:rPr lang="en-US" dirty="0" smtClean="0"/>
                        <a:t> Disease Detection Using Transfer Learning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2018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Fine-tuned VGG16 model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Clinical skin image </a:t>
                      </a:r>
                      <a:r>
                        <a:rPr lang="en-IN" dirty="0" err="1" smtClean="0"/>
                        <a:t>datasetClinical</a:t>
                      </a:r>
                      <a:r>
                        <a:rPr lang="en-IN" dirty="0" smtClean="0"/>
                        <a:t> skin image dataset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Overfitting due to limited training samples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Improved accuracy compared to training from scratch.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447190"/>
                  </a:ext>
                </a:extLst>
              </a:tr>
              <a:tr h="1140542">
                <a:tc>
                  <a:txBody>
                    <a:bodyPr/>
                    <a:lstStyle/>
                    <a:p>
                      <a:r>
                        <a:rPr lang="en-IN" dirty="0" smtClean="0"/>
                        <a:t>3.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Automated Dermatology System Using </a:t>
                      </a:r>
                      <a:r>
                        <a:rPr lang="en-US" dirty="0" err="1" smtClean="0"/>
                        <a:t>CNNAutomated</a:t>
                      </a:r>
                      <a:r>
                        <a:rPr lang="en-US" dirty="0" smtClean="0"/>
                        <a:t> Dermatology System Using CNN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2019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CNN with data </a:t>
                      </a:r>
                      <a:r>
                        <a:rPr lang="en-IN" dirty="0" err="1" smtClean="0"/>
                        <a:t>augmentationCNN</a:t>
                      </a:r>
                      <a:r>
                        <a:rPr lang="en-IN" dirty="0" smtClean="0"/>
                        <a:t> with data augmentation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Hospital-collected images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Poor performance on rare disease categories.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High accuracy for common skin diseases (~88%)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558266"/>
                  </a:ext>
                </a:extLst>
              </a:tr>
              <a:tr h="1140542">
                <a:tc>
                  <a:txBody>
                    <a:bodyPr/>
                    <a:lstStyle/>
                    <a:p>
                      <a:r>
                        <a:rPr lang="en-IN" dirty="0" smtClean="0"/>
                        <a:t>4.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Deep Learning for Skin Cancer </a:t>
                      </a:r>
                      <a:r>
                        <a:rPr lang="en-US" dirty="0" err="1" smtClean="0"/>
                        <a:t>DetectionDeep</a:t>
                      </a:r>
                      <a:r>
                        <a:rPr lang="en-US" dirty="0" smtClean="0"/>
                        <a:t> Learning for Skin Cancer Detection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2020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ResNet</a:t>
                      </a:r>
                      <a:r>
                        <a:rPr lang="en-IN" dirty="0" smtClean="0"/>
                        <a:t>-based deep model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ISIC 2020 dataset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Requires high computing power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Outperformed dermatologists on specific lesion types.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878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0221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6240488"/>
              </p:ext>
            </p:extLst>
          </p:nvPr>
        </p:nvGraphicFramePr>
        <p:xfrm>
          <a:off x="678729" y="292233"/>
          <a:ext cx="10887961" cy="6218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584">
                  <a:extLst>
                    <a:ext uri="{9D8B030D-6E8A-4147-A177-3AD203B41FA5}">
                      <a16:colId xmlns:a16="http://schemas.microsoft.com/office/drawing/2014/main" val="1581680087"/>
                    </a:ext>
                  </a:extLst>
                </a:gridCol>
                <a:gridCol w="1960776">
                  <a:extLst>
                    <a:ext uri="{9D8B030D-6E8A-4147-A177-3AD203B41FA5}">
                      <a16:colId xmlns:a16="http://schemas.microsoft.com/office/drawing/2014/main" val="3993741127"/>
                    </a:ext>
                  </a:extLst>
                </a:gridCol>
                <a:gridCol w="970960">
                  <a:extLst>
                    <a:ext uri="{9D8B030D-6E8A-4147-A177-3AD203B41FA5}">
                      <a16:colId xmlns:a16="http://schemas.microsoft.com/office/drawing/2014/main" val="2383355754"/>
                    </a:ext>
                  </a:extLst>
                </a:gridCol>
                <a:gridCol w="1574277">
                  <a:extLst>
                    <a:ext uri="{9D8B030D-6E8A-4147-A177-3AD203B41FA5}">
                      <a16:colId xmlns:a16="http://schemas.microsoft.com/office/drawing/2014/main" val="3068665122"/>
                    </a:ext>
                  </a:extLst>
                </a:gridCol>
                <a:gridCol w="1649690">
                  <a:extLst>
                    <a:ext uri="{9D8B030D-6E8A-4147-A177-3AD203B41FA5}">
                      <a16:colId xmlns:a16="http://schemas.microsoft.com/office/drawing/2014/main" val="257275549"/>
                    </a:ext>
                  </a:extLst>
                </a:gridCol>
                <a:gridCol w="1941922">
                  <a:extLst>
                    <a:ext uri="{9D8B030D-6E8A-4147-A177-3AD203B41FA5}">
                      <a16:colId xmlns:a16="http://schemas.microsoft.com/office/drawing/2014/main" val="2925227034"/>
                    </a:ext>
                  </a:extLst>
                </a:gridCol>
                <a:gridCol w="2092752">
                  <a:extLst>
                    <a:ext uri="{9D8B030D-6E8A-4147-A177-3AD203B41FA5}">
                      <a16:colId xmlns:a16="http://schemas.microsoft.com/office/drawing/2014/main" val="4276836657"/>
                    </a:ext>
                  </a:extLst>
                </a:gridCol>
              </a:tblGrid>
              <a:tr h="707008"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Sl.No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Title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Methodology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Dataset 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Dis-Advantages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Result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004868"/>
                  </a:ext>
                </a:extLst>
              </a:tr>
              <a:tr h="1490270">
                <a:tc>
                  <a:txBody>
                    <a:bodyPr/>
                    <a:lstStyle/>
                    <a:p>
                      <a:r>
                        <a:rPr lang="en-IN" dirty="0" smtClean="0"/>
                        <a:t>5.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Hybrid CNN-SVM for Skin Lesion Classification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2021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CNN feature extraction + SVM classifier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Dermoscopic</a:t>
                      </a:r>
                      <a:r>
                        <a:rPr lang="en-IN" dirty="0" smtClean="0"/>
                        <a:t> images (mixed datasets)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Feature extraction time and model complexity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Improved feature discrimination and classification (~90%)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279217"/>
                  </a:ext>
                </a:extLst>
              </a:tr>
              <a:tr h="1254964">
                <a:tc>
                  <a:txBody>
                    <a:bodyPr/>
                    <a:lstStyle/>
                    <a:p>
                      <a:r>
                        <a:rPr lang="en-IN" dirty="0" smtClean="0"/>
                        <a:t>6.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Transformer-Based Skin Image Classification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2022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Vision Transformer (</a:t>
                      </a:r>
                      <a:r>
                        <a:rPr lang="en-IN" dirty="0" err="1" smtClean="0"/>
                        <a:t>ViT</a:t>
                      </a:r>
                      <a:r>
                        <a:rPr lang="en-IN" dirty="0" smtClean="0"/>
                        <a:t>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Public </a:t>
                      </a:r>
                      <a:r>
                        <a:rPr lang="en-IN" dirty="0" err="1" smtClean="0"/>
                        <a:t>dermoscopic</a:t>
                      </a:r>
                      <a:r>
                        <a:rPr lang="en-IN" dirty="0" smtClean="0"/>
                        <a:t> image dataset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Needs large training dataset; high GPU requirement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Better generalization and accuracy (~92%)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160624"/>
                  </a:ext>
                </a:extLst>
              </a:tr>
              <a:tr h="1364853">
                <a:tc>
                  <a:txBody>
                    <a:bodyPr/>
                    <a:lstStyle/>
                    <a:p>
                      <a:r>
                        <a:rPr lang="en-IN" dirty="0" smtClean="0"/>
                        <a:t>7.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Ensemble Learning for </a:t>
                      </a:r>
                      <a:r>
                        <a:rPr lang="en-US" dirty="0" err="1" smtClean="0"/>
                        <a:t>Dermoscopic</a:t>
                      </a:r>
                      <a:r>
                        <a:rPr lang="en-US" dirty="0" smtClean="0"/>
                        <a:t> Image Classification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2022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Ensemble of CNN models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Dermoscopic</a:t>
                      </a:r>
                      <a:r>
                        <a:rPr lang="en-IN" dirty="0" smtClean="0"/>
                        <a:t> image dataset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Computationally expensive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Improved robustness and stability vs. single model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308278"/>
                  </a:ext>
                </a:extLst>
              </a:tr>
              <a:tr h="1401617">
                <a:tc>
                  <a:txBody>
                    <a:bodyPr/>
                    <a:lstStyle/>
                    <a:p>
                      <a:r>
                        <a:rPr lang="en-IN" dirty="0" smtClean="0"/>
                        <a:t>8.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YOLO-Based Real-Time Skin Lesion Identification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2023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YOLO deep detection model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Mixed clinical dataset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More suited to detection not full classification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Fast real-time diagnosis support with acceptable accuracy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477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381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483298"/>
              </p:ext>
            </p:extLst>
          </p:nvPr>
        </p:nvGraphicFramePr>
        <p:xfrm>
          <a:off x="697585" y="461914"/>
          <a:ext cx="10831398" cy="5828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235">
                  <a:extLst>
                    <a:ext uri="{9D8B030D-6E8A-4147-A177-3AD203B41FA5}">
                      <a16:colId xmlns:a16="http://schemas.microsoft.com/office/drawing/2014/main" val="441272684"/>
                    </a:ext>
                  </a:extLst>
                </a:gridCol>
                <a:gridCol w="2164207">
                  <a:extLst>
                    <a:ext uri="{9D8B030D-6E8A-4147-A177-3AD203B41FA5}">
                      <a16:colId xmlns:a16="http://schemas.microsoft.com/office/drawing/2014/main" val="1383508543"/>
                    </a:ext>
                  </a:extLst>
                </a:gridCol>
                <a:gridCol w="688157">
                  <a:extLst>
                    <a:ext uri="{9D8B030D-6E8A-4147-A177-3AD203B41FA5}">
                      <a16:colId xmlns:a16="http://schemas.microsoft.com/office/drawing/2014/main" val="2923134184"/>
                    </a:ext>
                  </a:extLst>
                </a:gridCol>
                <a:gridCol w="1395167">
                  <a:extLst>
                    <a:ext uri="{9D8B030D-6E8A-4147-A177-3AD203B41FA5}">
                      <a16:colId xmlns:a16="http://schemas.microsoft.com/office/drawing/2014/main" val="1329006909"/>
                    </a:ext>
                  </a:extLst>
                </a:gridCol>
                <a:gridCol w="1913641">
                  <a:extLst>
                    <a:ext uri="{9D8B030D-6E8A-4147-A177-3AD203B41FA5}">
                      <a16:colId xmlns:a16="http://schemas.microsoft.com/office/drawing/2014/main" val="595166563"/>
                    </a:ext>
                  </a:extLst>
                </a:gridCol>
                <a:gridCol w="1480008">
                  <a:extLst>
                    <a:ext uri="{9D8B030D-6E8A-4147-A177-3AD203B41FA5}">
                      <a16:colId xmlns:a16="http://schemas.microsoft.com/office/drawing/2014/main" val="986530709"/>
                    </a:ext>
                  </a:extLst>
                </a:gridCol>
                <a:gridCol w="2384983">
                  <a:extLst>
                    <a:ext uri="{9D8B030D-6E8A-4147-A177-3AD203B41FA5}">
                      <a16:colId xmlns:a16="http://schemas.microsoft.com/office/drawing/2014/main" val="91290748"/>
                    </a:ext>
                  </a:extLst>
                </a:gridCol>
              </a:tblGrid>
              <a:tr h="904414"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Sl.No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Title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Year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Methodology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Dataset Details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Dis-Advantages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Result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3119485"/>
                  </a:ext>
                </a:extLst>
              </a:tr>
              <a:tr h="1308514">
                <a:tc>
                  <a:txBody>
                    <a:bodyPr/>
                    <a:lstStyle/>
                    <a:p>
                      <a:r>
                        <a:rPr lang="en-IN" dirty="0" smtClean="0"/>
                        <a:t>9.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Self-Supervised Learning for Skin Lesion Recognition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2023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Self-supervised CNN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Unlabeled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 err="1" smtClean="0"/>
                        <a:t>dermoscopy</a:t>
                      </a:r>
                      <a:r>
                        <a:rPr lang="en-IN" dirty="0" smtClean="0"/>
                        <a:t> + ISIC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Complex training procedure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Improved performance when labeled data was limited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387652"/>
                  </a:ext>
                </a:extLst>
              </a:tr>
              <a:tr h="1213262">
                <a:tc>
                  <a:txBody>
                    <a:bodyPr/>
                    <a:lstStyle/>
                    <a:p>
                      <a:r>
                        <a:rPr lang="en-IN" dirty="0" smtClean="0"/>
                        <a:t>10.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Multi-Stage Segmentation + Classification Network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2024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U-Net segmentation + CNN classifier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 smtClean="0"/>
                        <a:t>Dermoscopy</a:t>
                      </a:r>
                      <a:r>
                        <a:rPr lang="en-IN" dirty="0" smtClean="0"/>
                        <a:t> clinical dataset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Requires annotated masks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Improved detection by isolating lesion region (~96% sensitivity)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892451"/>
                  </a:ext>
                </a:extLst>
              </a:tr>
              <a:tr h="1213262">
                <a:tc>
                  <a:txBody>
                    <a:bodyPr/>
                    <a:lstStyle/>
                    <a:p>
                      <a:r>
                        <a:rPr lang="en-IN" dirty="0" smtClean="0"/>
                        <a:t>11.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Ensemble Vision Transformer </a:t>
                      </a:r>
                      <a:r>
                        <a:rPr lang="fr-FR" dirty="0" err="1" smtClean="0"/>
                        <a:t>Models</a:t>
                      </a:r>
                      <a:r>
                        <a:rPr lang="fr-FR" dirty="0" smtClean="0"/>
                        <a:t> for Skin </a:t>
                      </a:r>
                      <a:r>
                        <a:rPr lang="fr-FR" dirty="0" err="1" smtClean="0"/>
                        <a:t>Lesion</a:t>
                      </a:r>
                      <a:r>
                        <a:rPr lang="fr-FR" dirty="0" smtClean="0"/>
                        <a:t> Classification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2025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Transformer Ensemble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ISIC 2020 + </a:t>
                      </a:r>
                      <a:r>
                        <a:rPr lang="en-IN" dirty="0" err="1" smtClean="0"/>
                        <a:t>Dermnet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Training time very high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~98% accuracy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986178"/>
                  </a:ext>
                </a:extLst>
              </a:tr>
              <a:tr h="1139177">
                <a:tc>
                  <a:txBody>
                    <a:bodyPr/>
                    <a:lstStyle/>
                    <a:p>
                      <a:r>
                        <a:rPr lang="en-IN" dirty="0" smtClean="0"/>
                        <a:t>12.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GAN-based Data Augmentation for Dermatology AI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2025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GAN + </a:t>
                      </a:r>
                      <a:r>
                        <a:rPr lang="en-IN" dirty="0" err="1" smtClean="0"/>
                        <a:t>EfficientNet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Small clinical dataset (1,800 images)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Synthetic images sometimes unrealistic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~93% accuracy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777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4012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219361"/>
              </p:ext>
            </p:extLst>
          </p:nvPr>
        </p:nvGraphicFramePr>
        <p:xfrm>
          <a:off x="697584" y="678728"/>
          <a:ext cx="10972800" cy="56183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479">
                  <a:extLst>
                    <a:ext uri="{9D8B030D-6E8A-4147-A177-3AD203B41FA5}">
                      <a16:colId xmlns:a16="http://schemas.microsoft.com/office/drawing/2014/main" val="216370702"/>
                    </a:ext>
                  </a:extLst>
                </a:gridCol>
                <a:gridCol w="5496321">
                  <a:extLst>
                    <a:ext uri="{9D8B030D-6E8A-4147-A177-3AD203B41FA5}">
                      <a16:colId xmlns:a16="http://schemas.microsoft.com/office/drawing/2014/main" val="1108639913"/>
                    </a:ext>
                  </a:extLst>
                </a:gridCol>
              </a:tblGrid>
              <a:tr h="1222267">
                <a:tc>
                  <a:txBody>
                    <a:bodyPr/>
                    <a:lstStyle/>
                    <a:p>
                      <a:r>
                        <a:rPr lang="en-IN" dirty="0" smtClean="0"/>
                        <a:t>                              </a:t>
                      </a:r>
                    </a:p>
                    <a:p>
                      <a:r>
                        <a:rPr lang="en-IN" dirty="0" smtClean="0"/>
                        <a:t>                            </a:t>
                      </a:r>
                      <a:r>
                        <a:rPr lang="en-IN" sz="3200" dirty="0" smtClean="0"/>
                        <a:t>SOFTWARE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                                                                </a:t>
                      </a:r>
                    </a:p>
                    <a:p>
                      <a:r>
                        <a:rPr lang="en-IN" dirty="0" smtClean="0"/>
                        <a:t>                             </a:t>
                      </a:r>
                      <a:r>
                        <a:rPr lang="en-IN" sz="3200" dirty="0" smtClean="0"/>
                        <a:t>HARDWARE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819209"/>
                  </a:ext>
                </a:extLst>
              </a:tr>
              <a:tr h="439611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 smtClean="0"/>
                        <a:t>Operating System: Windows / Linux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 smtClean="0"/>
                        <a:t>Python (Anaconda / </a:t>
                      </a:r>
                      <a:r>
                        <a:rPr lang="en-IN" sz="2400" dirty="0" err="1" smtClean="0"/>
                        <a:t>Jupyter</a:t>
                      </a:r>
                      <a:r>
                        <a:rPr lang="en-IN" sz="2400" dirty="0" smtClean="0"/>
                        <a:t> Notebook)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sz="2400" dirty="0" smtClean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 err="1" smtClean="0"/>
                        <a:t>TensorFlow</a:t>
                      </a:r>
                      <a:r>
                        <a:rPr lang="en-IN" sz="2400" dirty="0" smtClean="0"/>
                        <a:t> / </a:t>
                      </a:r>
                      <a:r>
                        <a:rPr lang="en-IN" sz="2400" dirty="0" err="1" smtClean="0"/>
                        <a:t>Keras</a:t>
                      </a:r>
                      <a:r>
                        <a:rPr lang="en-IN" sz="2400" dirty="0" smtClean="0"/>
                        <a:t> / </a:t>
                      </a:r>
                      <a:r>
                        <a:rPr lang="en-IN" sz="2400" dirty="0" err="1" smtClean="0"/>
                        <a:t>PyTorch</a:t>
                      </a:r>
                      <a:endParaRPr lang="en-IN" sz="2400" dirty="0" smtClean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sz="2400" dirty="0" smtClean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 err="1" smtClean="0"/>
                        <a:t>OpenCV</a:t>
                      </a:r>
                      <a:r>
                        <a:rPr lang="en-IN" sz="2400" dirty="0" smtClean="0"/>
                        <a:t>, </a:t>
                      </a:r>
                      <a:r>
                        <a:rPr lang="en-IN" sz="2400" dirty="0" err="1" smtClean="0"/>
                        <a:t>NumPy</a:t>
                      </a:r>
                      <a:r>
                        <a:rPr lang="en-IN" sz="2400" dirty="0" smtClean="0"/>
                        <a:t>, Pandas libraries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sz="2400" dirty="0" smtClean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 smtClean="0"/>
                        <a:t>Google </a:t>
                      </a:r>
                      <a:r>
                        <a:rPr lang="en-IN" sz="2400" dirty="0" err="1" smtClean="0"/>
                        <a:t>Colab</a:t>
                      </a:r>
                      <a:r>
                        <a:rPr lang="en-IN" sz="2400" dirty="0" smtClean="0"/>
                        <a:t> / VS Code / </a:t>
                      </a:r>
                      <a:r>
                        <a:rPr lang="en-IN" sz="2400" dirty="0" err="1" smtClean="0"/>
                        <a:t>Spyder</a:t>
                      </a:r>
                      <a:endParaRPr lang="en-IN" sz="2400" dirty="0" smtClean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sz="2400" dirty="0" smtClean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 err="1" smtClean="0"/>
                        <a:t>Matplotlib</a:t>
                      </a:r>
                      <a:r>
                        <a:rPr lang="en-IN" sz="2400" dirty="0" smtClean="0"/>
                        <a:t>, </a:t>
                      </a:r>
                      <a:r>
                        <a:rPr lang="en-IN" sz="2400" dirty="0" err="1" smtClean="0"/>
                        <a:t>Scikit</a:t>
                      </a:r>
                      <a:r>
                        <a:rPr lang="en-IN" sz="2400" dirty="0" smtClean="0"/>
                        <a:t>-learn packages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 smtClean="0"/>
                        <a:t>Processor: Intel i5 / </a:t>
                      </a:r>
                      <a:r>
                        <a:rPr lang="en-IN" sz="2400" dirty="0" err="1" smtClean="0"/>
                        <a:t>Ryzen</a:t>
                      </a:r>
                      <a:r>
                        <a:rPr lang="en-IN" sz="2400" dirty="0" smtClean="0"/>
                        <a:t> 5 or above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/>
                        <a:t>RAM: Minimum 8GB (16GB recommended)</a:t>
                      </a:r>
                      <a:endParaRPr lang="en-IN" sz="2400" dirty="0" smtClean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/>
                        <a:t>GPU: NVIDIA GPU (optional but recommended)</a:t>
                      </a:r>
                      <a:endParaRPr lang="en-IN" sz="2400" dirty="0" smtClean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 smtClean="0"/>
                        <a:t>Storage: Minimum 250GB HDD / SSD (SSD preferred)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 smtClean="0"/>
                        <a:t>Camera / image input device (optional)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sz="2400" dirty="0" smtClean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smtClean="0"/>
                        <a:t>Good display monitor (for visualization)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460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9667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4296"/>
            <a:ext cx="10515600" cy="992335"/>
          </a:xfrm>
        </p:spPr>
        <p:txBody>
          <a:bodyPr>
            <a:normAutofit/>
          </a:bodyPr>
          <a:lstStyle/>
          <a:p>
            <a:r>
              <a:rPr lang="en-IN" sz="4000" b="1" dirty="0" smtClean="0"/>
              <a:t>                         PROPOSED SOLUTION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212" y="134485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✯</a:t>
            </a:r>
            <a:r>
              <a:rPr lang="en-US" sz="2400" b="1" dirty="0" smtClean="0"/>
              <a:t>Model Used</a:t>
            </a:r>
          </a:p>
          <a:p>
            <a:pPr marL="0" indent="0">
              <a:buNone/>
            </a:pPr>
            <a:r>
              <a:rPr lang="en-US" sz="2400" dirty="0" smtClean="0"/>
              <a:t>           Convolutional Neural Network (CNN)–based deep learning model</a:t>
            </a:r>
          </a:p>
          <a:p>
            <a:pPr marL="0" indent="0">
              <a:buNone/>
            </a:pPr>
            <a:r>
              <a:rPr lang="en-US" sz="2400" b="1" dirty="0" smtClean="0"/>
              <a:t>✯Why This Model?</a:t>
            </a:r>
          </a:p>
          <a:p>
            <a:r>
              <a:rPr lang="en-US" sz="2400" dirty="0" smtClean="0"/>
              <a:t>CNNs are highly effective for image classification tasks</a:t>
            </a:r>
          </a:p>
          <a:p>
            <a:r>
              <a:rPr lang="en-US" sz="2400" dirty="0" smtClean="0"/>
              <a:t>Automatically learn and extract important features from skin images</a:t>
            </a:r>
          </a:p>
          <a:p>
            <a:r>
              <a:rPr lang="en-US" sz="2400" dirty="0" smtClean="0"/>
              <a:t>Better accuracy compared to traditional machine-learning models</a:t>
            </a:r>
          </a:p>
          <a:p>
            <a:r>
              <a:rPr lang="en-US" sz="2400" dirty="0" smtClean="0"/>
              <a:t>Works well with medical image datasets</a:t>
            </a:r>
          </a:p>
          <a:p>
            <a:r>
              <a:rPr lang="en-US" sz="2400" dirty="0" smtClean="0"/>
              <a:t>Reduces need for manual feature extraction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004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400" y="229660"/>
            <a:ext cx="10515600" cy="811742"/>
          </a:xfrm>
        </p:spPr>
        <p:txBody>
          <a:bodyPr>
            <a:normAutofit/>
          </a:bodyPr>
          <a:lstStyle/>
          <a:p>
            <a:r>
              <a:rPr lang="en-IN" sz="4000" b="1" dirty="0" smtClean="0"/>
              <a:t>                               METHODOLOGY</a:t>
            </a:r>
            <a:endParaRPr lang="en-IN" sz="4000" b="1" dirty="0"/>
          </a:p>
        </p:txBody>
      </p:sp>
      <p:pic>
        <p:nvPicPr>
          <p:cNvPr id="8194" name="Picture 2" descr="Attention Cost-Sensitive Deep Learning-Based Approach for Skin Cancer  Detection and Classification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333" y="1041402"/>
            <a:ext cx="10185399" cy="5427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5633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0068"/>
            <a:ext cx="10515600" cy="667310"/>
          </a:xfrm>
        </p:spPr>
        <p:txBody>
          <a:bodyPr>
            <a:normAutofit/>
          </a:bodyPr>
          <a:lstStyle/>
          <a:p>
            <a:r>
              <a:rPr lang="en-IN" sz="4000" b="1" dirty="0" smtClean="0"/>
              <a:t>                               EXPLANATION</a:t>
            </a:r>
            <a:endParaRPr lang="en-IN" sz="4000" b="1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71500" y="1149911"/>
            <a:ext cx="11049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images undergo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pre-processing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including resizing, normalization, and data augmentation, to standardize inputs and improve model robustness.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Next, the processed images are fed into a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CNN backbone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automatically extracts hierarchical features such as texture, color variations, and lesion shape.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extracted feature vectors are then passed into a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classification module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may include fully connected layers or other classifiers to determine the skin disease category.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diagram begins with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skin images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are collected from a labeled dataset.</a:t>
            </a:r>
          </a:p>
        </p:txBody>
      </p:sp>
    </p:spTree>
    <p:extLst>
      <p:ext uri="{BB962C8B-B14F-4D97-AF65-F5344CB8AC3E}">
        <p14:creationId xmlns:p14="http://schemas.microsoft.com/office/powerpoint/2010/main" val="720993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53" y="195442"/>
            <a:ext cx="10515600" cy="926347"/>
          </a:xfrm>
        </p:spPr>
        <p:txBody>
          <a:bodyPr>
            <a:normAutofit/>
          </a:bodyPr>
          <a:lstStyle/>
          <a:p>
            <a:r>
              <a:rPr lang="en-IN" sz="4000" b="1" dirty="0" smtClean="0"/>
              <a:t>                                     </a:t>
            </a:r>
            <a:r>
              <a:rPr lang="en-IN" sz="4000" b="1" dirty="0" smtClean="0"/>
              <a:t>RESULTS</a:t>
            </a:r>
            <a:endParaRPr lang="en-IN" sz="4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87" y="1095375"/>
            <a:ext cx="5703462" cy="52959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845"/>
          <a:stretch/>
        </p:blipFill>
        <p:spPr>
          <a:xfrm>
            <a:off x="6504495" y="1348033"/>
            <a:ext cx="5354425" cy="476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25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6920"/>
          </a:xfrm>
        </p:spPr>
        <p:txBody>
          <a:bodyPr>
            <a:normAutofit/>
          </a:bodyPr>
          <a:lstStyle/>
          <a:p>
            <a:r>
              <a:rPr lang="en-IN" sz="4000" b="1" dirty="0" smtClean="0"/>
              <a:t>                                  CONCLUSION</a:t>
            </a:r>
            <a:endParaRPr lang="en-IN" sz="4000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46754" y="1543836"/>
            <a:ext cx="1134044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✧⁠A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deep-learning and machine-learning approach was implemented for accurate skin disease classification.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✧⁠</a:t>
            </a:r>
            <a:r>
              <a:rPr lang="en-US" altLang="en-US" sz="2400" dirty="0" err="1">
                <a:latin typeface="Arial" panose="020B0604020202020204" pitchFamily="34" charset="0"/>
              </a:rPr>
              <a:t>Pretrained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CNN models effectively extracted rich and discriminative features from skin images.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✧⁠Traditional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 classifiers such as Random Forest, SVM, and Logistic Regression improved decision-making efficiency and robustness.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✧⁠The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achieved strong classification results, demonstrating its potential for clinical support and early skin disease detection.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✧⁠This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can assist dermatologists in diagnosis and reduce manual effort in medical image analysis.</a:t>
            </a:r>
          </a:p>
        </p:txBody>
      </p:sp>
    </p:spTree>
    <p:extLst>
      <p:ext uri="{BB962C8B-B14F-4D97-AF65-F5344CB8AC3E}">
        <p14:creationId xmlns:p14="http://schemas.microsoft.com/office/powerpoint/2010/main" val="19117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9786"/>
          </a:xfrm>
        </p:spPr>
        <p:txBody>
          <a:bodyPr>
            <a:normAutofit/>
          </a:bodyPr>
          <a:lstStyle/>
          <a:p>
            <a:r>
              <a:rPr lang="en-IN" sz="4000" b="1" dirty="0" smtClean="0"/>
              <a:t>                       FUTURE ENHANCEMENTS</a:t>
            </a:r>
            <a:endParaRPr lang="en-IN" sz="4000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92477" y="1553409"/>
            <a:ext cx="10661323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as a mobile/web application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real-time skin disease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 dataset size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more diverse and high-quality clinical images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Explainable AI (XAI)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show why the model predicts a disease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more skin disease categories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broader medical usability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model speed and accuracy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advanced deep-learning architectures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with dermatology devices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smartphones with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dermatoscope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Cloud-based storage and processing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hospital and tele-dermatology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interface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doctors and patients</a:t>
            </a:r>
          </a:p>
        </p:txBody>
      </p:sp>
    </p:spTree>
    <p:extLst>
      <p:ext uri="{BB962C8B-B14F-4D97-AF65-F5344CB8AC3E}">
        <p14:creationId xmlns:p14="http://schemas.microsoft.com/office/powerpoint/2010/main" val="4261929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4372"/>
          </a:xfrm>
        </p:spPr>
        <p:txBody>
          <a:bodyPr>
            <a:normAutofit/>
          </a:bodyPr>
          <a:lstStyle/>
          <a:p>
            <a:r>
              <a:rPr lang="en-IN" sz="4000" b="1" dirty="0" smtClean="0"/>
              <a:t>                                    REFERENCES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4541"/>
            <a:ext cx="10515600" cy="4351338"/>
          </a:xfrm>
        </p:spPr>
        <p:txBody>
          <a:bodyPr>
            <a:noAutofit/>
          </a:bodyPr>
          <a:lstStyle/>
          <a:p>
            <a:r>
              <a:rPr lang="en-IN" sz="2000" dirty="0" err="1"/>
              <a:t>Tschandl</a:t>
            </a:r>
            <a:r>
              <a:rPr lang="en-IN" sz="2000" dirty="0"/>
              <a:t>, P., </a:t>
            </a:r>
            <a:r>
              <a:rPr lang="en-IN" sz="2000" dirty="0" err="1"/>
              <a:t>Rosendahl</a:t>
            </a:r>
            <a:r>
              <a:rPr lang="en-IN" sz="2000" dirty="0"/>
              <a:t>, C., &amp; Kittler, H. </a:t>
            </a:r>
            <a:r>
              <a:rPr lang="en-IN" sz="2000" i="1" dirty="0"/>
              <a:t>The HAM10000 dataset: A large collection of multi-source </a:t>
            </a:r>
            <a:r>
              <a:rPr lang="en-IN" sz="2000" i="1" dirty="0" err="1"/>
              <a:t>dermatoscopic</a:t>
            </a:r>
            <a:r>
              <a:rPr lang="en-IN" sz="2000" i="1" dirty="0"/>
              <a:t> images of common pigmented skin lesions.</a:t>
            </a:r>
            <a:r>
              <a:rPr lang="en-IN" sz="2000" dirty="0"/>
              <a:t> Scientific Data, 5, 180161 (2018).</a:t>
            </a:r>
          </a:p>
          <a:p>
            <a:r>
              <a:rPr lang="en-IN" sz="2000" dirty="0" err="1"/>
              <a:t>Esteva</a:t>
            </a:r>
            <a:r>
              <a:rPr lang="en-IN" sz="2000" dirty="0"/>
              <a:t>, A., </a:t>
            </a:r>
            <a:r>
              <a:rPr lang="en-IN" sz="2000" dirty="0" err="1"/>
              <a:t>Kuprel</a:t>
            </a:r>
            <a:r>
              <a:rPr lang="en-IN" sz="2000" dirty="0"/>
              <a:t>, B., et al. </a:t>
            </a:r>
            <a:r>
              <a:rPr lang="en-IN" sz="2000" i="1" dirty="0"/>
              <a:t>Dermatologist-level classification of skin cancer with deep neural networks.</a:t>
            </a:r>
            <a:r>
              <a:rPr lang="en-IN" sz="2000" dirty="0"/>
              <a:t> Nature, 542, 115–118 (2017).</a:t>
            </a:r>
          </a:p>
          <a:p>
            <a:r>
              <a:rPr lang="en-IN" sz="2000" dirty="0"/>
              <a:t>Brinker, T. J., et al. </a:t>
            </a:r>
            <a:r>
              <a:rPr lang="en-IN" sz="2000" i="1" dirty="0"/>
              <a:t>Skin cancer classification using convolutional neural networks: Systematic review.</a:t>
            </a:r>
            <a:r>
              <a:rPr lang="en-IN" sz="2000" dirty="0"/>
              <a:t> Journal of the European Academy of Dermatology and Venereology, 33(9), 2019.</a:t>
            </a:r>
          </a:p>
          <a:p>
            <a:r>
              <a:rPr lang="en-IN" sz="2000" dirty="0" err="1"/>
              <a:t>Codella</a:t>
            </a:r>
            <a:r>
              <a:rPr lang="en-IN" sz="2000" dirty="0"/>
              <a:t>, N. C. F., et al. </a:t>
            </a:r>
            <a:r>
              <a:rPr lang="en-IN" sz="2000" i="1" dirty="0"/>
              <a:t>Skin lesion analysis toward melanoma detection 2018: A challenge hosted by the International Skin Imaging Collaboration (ISIC).</a:t>
            </a:r>
            <a:r>
              <a:rPr lang="en-IN" sz="2000" dirty="0"/>
              <a:t> arXiv:1902.03368.</a:t>
            </a:r>
          </a:p>
          <a:p>
            <a:r>
              <a:rPr lang="en-IN" sz="2000" dirty="0"/>
              <a:t>Khan, M. A., et al. </a:t>
            </a:r>
            <a:r>
              <a:rPr lang="en-IN" sz="2000" i="1" dirty="0"/>
              <a:t>Intelligent skin disease classification using deep learning and data augmentation.</a:t>
            </a:r>
            <a:r>
              <a:rPr lang="en-IN" sz="2000" dirty="0"/>
              <a:t> IEEE Access, 2022.</a:t>
            </a:r>
          </a:p>
          <a:p>
            <a:r>
              <a:rPr lang="en-IN" sz="2000" dirty="0" err="1"/>
              <a:t>Rajpurkar</a:t>
            </a:r>
            <a:r>
              <a:rPr lang="en-IN" sz="2000" dirty="0"/>
              <a:t>, P., et al. </a:t>
            </a:r>
            <a:r>
              <a:rPr lang="en-IN" sz="2000" i="1" dirty="0"/>
              <a:t>AI-assisted dermatology: Deep learning models for automated skin disease detection and diagnosis.</a:t>
            </a:r>
            <a:r>
              <a:rPr lang="en-IN" sz="2000" dirty="0"/>
              <a:t> Medical Image Analysis, 2023</a:t>
            </a:r>
            <a:r>
              <a:rPr lang="en-IN" sz="2000" dirty="0" smtClean="0"/>
              <a:t>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89653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1334</Words>
  <Application>Microsoft Office PowerPoint</Application>
  <PresentationFormat>Widescreen</PresentationFormat>
  <Paragraphs>220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School of computer science and engineering Deep Learning Project Final Review</vt:lpstr>
      <vt:lpstr>PowerPoint Presentation</vt:lpstr>
      <vt:lpstr>                               ABSTRACT</vt:lpstr>
      <vt:lpstr>                            INTRODUCTION</vt:lpstr>
      <vt:lpstr>                        PROBLEM STATEMENT</vt:lpstr>
      <vt:lpstr>                                   OBJECTIVES</vt:lpstr>
      <vt:lpstr>                         LITERATURE REVIEW</vt:lpstr>
      <vt:lpstr>PowerPoint Presentation</vt:lpstr>
      <vt:lpstr>PowerPoint Presentation</vt:lpstr>
      <vt:lpstr>PowerPoint Presentation</vt:lpstr>
      <vt:lpstr>PowerPoint Presentation</vt:lpstr>
      <vt:lpstr>                         PROPOSED SOLUTION</vt:lpstr>
      <vt:lpstr>                               METHODOLOGY</vt:lpstr>
      <vt:lpstr>                               EXPLANATION</vt:lpstr>
      <vt:lpstr>                                     RESULTS</vt:lpstr>
      <vt:lpstr>                                  CONCLUSION</vt:lpstr>
      <vt:lpstr>                       FUTURE ENHANCEMENTS</vt:lpstr>
      <vt:lpstr>                                   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of computer science and engineering Deep Learning Project Final Review</dc:title>
  <dc:creator>VITAP</dc:creator>
  <cp:lastModifiedBy>VITAP</cp:lastModifiedBy>
  <cp:revision>14</cp:revision>
  <dcterms:created xsi:type="dcterms:W3CDTF">2025-11-05T16:04:37Z</dcterms:created>
  <dcterms:modified xsi:type="dcterms:W3CDTF">2025-11-06T04:31:28Z</dcterms:modified>
</cp:coreProperties>
</file>